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38BDF8"/>
                </a:solidFill>
                <a:latin typeface="Segoe UI"/>
              </a:rPr>
              <a:t>SuperAI NEXT Hackathon 2026 · Team dialogbrain</a:t>
            </a:r>
          </a:p>
          <a:p>
            <a:pPr algn="l">
              <a:spcAft>
                <a:spcPts val="1000"/>
              </a:spcAft>
            </a:pPr>
            <a:r>
              <a:rPr sz="4400" b="1">
                <a:solidFill>
                  <a:srgbClr val="E6E9EF"/>
                </a:solidFill>
                <a:latin typeface="Segoe UI"/>
              </a:rPr>
              <a:t>Deal-Room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8B94A7"/>
                </a:solidFill>
                <a:latin typeface="Segoe UI"/>
              </a:rPr>
              <a:t>An autonomous AI agent that runs a live multilingual sales call — presents, translates, researches, and closes the deal.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38BDF8"/>
                </a:solidFill>
                <a:latin typeface="Segoe UI"/>
              </a:rPr>
              <a:t>The brief: build anything, but make it agentic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 b="0">
                <a:solidFill>
                  <a:srgbClr val="E6E9EF"/>
                </a:solidFill>
                <a:latin typeface="Segoe UI"/>
              </a:rPr>
              <a:t>Sales calls are the highest-value, least-automated conversation a business has.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8B94A7"/>
                </a:solidFill>
                <a:latin typeface="Segoe UI"/>
              </a:rPr>
              <a:t>Deal-Room puts an autonomous agent on a live Telegram group call that does the whole thing: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E6E9EF"/>
                </a:solidFill>
                <a:latin typeface="Segoe UI"/>
              </a:rPr>
              <a:t>•  Presents the deck (screen-share)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E6E9EF"/>
                </a:solidFill>
                <a:latin typeface="Segoe UI"/>
              </a:rPr>
              <a:t>•  Translates the conversation in real time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E6E9EF"/>
                </a:solidFill>
                <a:latin typeface="Segoe UI"/>
              </a:rPr>
              <a:t>•  Answers hard questions with live web research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E6E9EF"/>
                </a:solidFill>
                <a:latin typeface="Segoe UI"/>
              </a:rPr>
              <a:t>•  Closes the deal by taking payment — with a human approving the close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38BDF8"/>
                </a:solidFill>
                <a:latin typeface="Segoe UI"/>
              </a:rPr>
              <a:t>What the judges see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0">
                <a:solidFill>
                  <a:srgbClr val="E6E9EF"/>
                </a:solidFill>
                <a:latin typeface="Segoe UI"/>
              </a:rPr>
              <a:t>Agent joins the call → presents → prospect speaks another language → live translation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E6E9EF"/>
                </a:solidFill>
                <a:latin typeface="Segoe UI"/>
              </a:rPr>
              <a:t>→ tough question → live Exa web lookup → spoken answer + slide update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E6E9EF"/>
                </a:solidFill>
                <a:latin typeface="Segoe UI"/>
              </a:rPr>
              <a:t>→ buying signal → operator taps Approve → Stripe link in chat → payment confirmed.</a:t>
            </a:r>
          </a:p>
          <a:p>
            <a:pPr algn="l">
              <a:spcAft>
                <a:spcPts val="1200"/>
              </a:spcAft>
            </a:pPr>
            <a:r>
              <a:rPr sz="2200" b="0">
                <a:solidFill>
                  <a:srgbClr val="38BDF8"/>
                </a:solidFill>
                <a:latin typeface="Segoe UI"/>
              </a:rPr>
              <a:t>One self-running agent. Real money moved. All on stage.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38BDF8"/>
                </a:solidFill>
                <a:latin typeface="Segoe UI"/>
              </a:rPr>
              <a:t>Architecture — the agent crew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900" b="0">
                <a:solidFill>
                  <a:srgbClr val="E6E9EF"/>
                </a:solidFill>
                <a:latin typeface="Segoe UI"/>
              </a:rPr>
              <a:t>Orchestrator   decides present / answer / research / close   (Bedrock)</a:t>
            </a:r>
          </a:p>
          <a:p>
            <a:pPr algn="l">
              <a:spcAft>
                <a:spcPts val="1200"/>
              </a:spcAft>
            </a:pPr>
            <a:r>
              <a:rPr sz="1900" b="0">
                <a:solidFill>
                  <a:srgbClr val="E6E9EF"/>
                </a:solidFill>
                <a:latin typeface="Segoe UI"/>
              </a:rPr>
              <a:t>Presenter      screen-shares + narrates the deck</a:t>
            </a:r>
          </a:p>
          <a:p>
            <a:pPr algn="l">
              <a:spcAft>
                <a:spcPts val="1200"/>
              </a:spcAft>
            </a:pPr>
            <a:r>
              <a:rPr sz="1900" b="0">
                <a:solidFill>
                  <a:srgbClr val="E6E9EF"/>
                </a:solidFill>
                <a:latin typeface="Segoe UI"/>
              </a:rPr>
              <a:t>Translator     real-time 2-way speech (AWS Translate + Polly)</a:t>
            </a:r>
          </a:p>
          <a:p>
            <a:pPr algn="l">
              <a:spcAft>
                <a:spcPts val="1200"/>
              </a:spcAft>
            </a:pPr>
            <a:r>
              <a:rPr sz="1900" b="0">
                <a:solidFill>
                  <a:srgbClr val="E6E9EF"/>
                </a:solidFill>
                <a:latin typeface="Segoe UI"/>
              </a:rPr>
              <a:t>Researcher     live web grounding   (Exa)</a:t>
            </a:r>
          </a:p>
          <a:p>
            <a:pPr algn="l">
              <a:spcAft>
                <a:spcPts val="1200"/>
              </a:spcAft>
            </a:pPr>
            <a:r>
              <a:rPr sz="1900" b="0">
                <a:solidFill>
                  <a:srgbClr val="E6E9EF"/>
                </a:solidFill>
                <a:latin typeface="Segoe UI"/>
              </a:rPr>
              <a:t>Closer         hosted checkout + payment   (Stripe)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8B94A7"/>
                </a:solidFill>
                <a:latin typeface="Segoe UI"/>
              </a:rPr>
              <a:t>Runtime: Python call worker on AWS (ECS/EC2) · Bedrock reasoning · DynamoDB control bus · Vercel dashboard (AI Gateway + approve gate).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38BDF8"/>
                </a:solidFill>
                <a:latin typeface="Segoe UI"/>
              </a:rPr>
              <a:t>Four sponsors, each load-bearing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0">
                <a:solidFill>
                  <a:srgbClr val="E6E9EF"/>
                </a:solidFill>
                <a:latin typeface="Segoe UI"/>
              </a:rPr>
              <a:t>AWS      Bedrock (Claude) reasoning · DynamoDB state · Polly/Transcribe/Translate voice · ECS/EC2 runtime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E6E9EF"/>
                </a:solidFill>
                <a:latin typeface="Segoe UI"/>
              </a:rPr>
              <a:t>Vercel   AI Gateway + AI SDK dashboard = the operator console &amp; human-approval gate (live URL)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E6E9EF"/>
                </a:solidFill>
                <a:latin typeface="Segoe UI"/>
              </a:rPr>
              <a:t>Exa      the agent's live senses — real-time web answers mid-call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E6E9EF"/>
                </a:solidFill>
                <a:latin typeface="Segoe UI"/>
              </a:rPr>
              <a:t>Stripe   the close — a real hosted checkout the agent triggers on approval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38BDF8"/>
                </a:solidFill>
                <a:latin typeface="Segoe UI"/>
              </a:rPr>
              <a:t>Maps to all 7 judging criteria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900" b="0">
                <a:solidFill>
                  <a:srgbClr val="E6E9EF"/>
                </a:solidFill>
                <a:latin typeface="Segoe UI"/>
              </a:rPr>
              <a:t>Agent Overview · Autonomy &amp; Decision-Making · Actions &amp; Tool Use</a:t>
            </a:r>
          </a:p>
          <a:p>
            <a:pPr algn="l">
              <a:spcAft>
                <a:spcPts val="1200"/>
              </a:spcAft>
            </a:pPr>
            <a:r>
              <a:rPr sz="1900" b="0">
                <a:solidFill>
                  <a:srgbClr val="E6E9EF"/>
                </a:solidFill>
                <a:latin typeface="Segoe UI"/>
              </a:rPr>
              <a:t>Orchestration (multi-agent) · Human-in-the-Loop (approve-to-close)</a:t>
            </a:r>
          </a:p>
          <a:p>
            <a:pPr algn="l">
              <a:spcAft>
                <a:spcPts val="1200"/>
              </a:spcAft>
            </a:pPr>
            <a:r>
              <a:rPr sz="1900" b="0">
                <a:solidFill>
                  <a:srgbClr val="E6E9EF"/>
                </a:solidFill>
                <a:latin typeface="Segoe UI"/>
              </a:rPr>
              <a:t>Failure Handling (Exa-empty fallback, translation retry) · Demo &amp; Presentation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38BDF8"/>
                </a:solidFill>
                <a:latin typeface="Segoe UI"/>
              </a:rPr>
              <a:t>Every criterion is exercised in a single end-to-end call.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38BDF8"/>
                </a:solidFill>
                <a:latin typeface="Segoe UI"/>
              </a:rPr>
              <a:t>Built &amp; verified live (not slideware)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0">
                <a:solidFill>
                  <a:srgbClr val="34D399"/>
                </a:solidFill>
                <a:latin typeface="Segoe UI"/>
              </a:rPr>
              <a:t>✓  Bedrock reasoning — global.anthropic.claude-sonnet-4-6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34D399"/>
                </a:solidFill>
                <a:latin typeface="Segoe UI"/>
              </a:rPr>
              <a:t>✓  Exa Researcher — returns cited, current answers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34D399"/>
                </a:solidFill>
                <a:latin typeface="Segoe UI"/>
              </a:rPr>
              <a:t>✓  Stripe Closer — real hosted test checkout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34D399"/>
                </a:solidFill>
                <a:latin typeface="Segoe UI"/>
              </a:rPr>
              <a:t>✓  DynamoDB control bus — worker ↔ dashboard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34D399"/>
                </a:solidFill>
                <a:latin typeface="Segoe UI"/>
              </a:rPr>
              <a:t>✓  Telegram call — agent joins &amp; transmits audio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34D399"/>
                </a:solidFill>
                <a:latin typeface="Segoe UI"/>
              </a:rPr>
              <a:t>✓  Vercel dashboard — LIVE, shows a real call end-to-end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38BDF8"/>
                </a:solidFill>
                <a:latin typeface="Segoe UI"/>
              </a:rPr>
              <a:t>github.com/saloprj/deal-room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38BDF8"/>
                </a:solidFill>
                <a:latin typeface="Segoe UI"/>
              </a:rPr>
              <a:t>Demo</a:t>
            </a:r>
          </a:p>
          <a:p>
            <a:pPr algn="l">
              <a:spcAft>
                <a:spcPts val="1000"/>
              </a:spcAft>
            </a:pPr>
            <a:r>
              <a:rPr sz="4400" b="1">
                <a:solidFill>
                  <a:srgbClr val="E6E9EF"/>
                </a:solidFill>
                <a:latin typeface="Segoe UI"/>
              </a:rPr>
              <a:t>Watch the agent close a deal — live, in two languages.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8B94A7"/>
                </a:solidFill>
                <a:latin typeface="Segoe UI"/>
              </a:rPr>
              <a:t>Team dialogbrain · github.com/saloprj/deal-room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